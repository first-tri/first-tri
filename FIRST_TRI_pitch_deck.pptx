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-365760"/>
            <a:ext cx="4754880" cy="7772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2834640" cy="53949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23960" y="1051560"/>
            <a:ext cx="2286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"/>
              </a:rPr>
              <a:t>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627632"/>
            <a:ext cx="2286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 i="0">
                <a:solidFill>
                  <a:srgbClr val="EA580C"/>
                </a:solidFill>
                <a:latin typeface="Aptos"/>
              </a:rPr>
              <a:t>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8580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TON PREMIER TRIATHLON.
TOUT EST PRÊT.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D1D5DB"/>
                </a:solidFill>
                <a:latin typeface="Aptos"/>
              </a:rPr>
              <a:t>Une expérience clé-en-main pour découvrir le triathlon avec ses amis — sans acheter tout le matériel avant d'avoir essayé.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2926080" cy="5303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910328"/>
            <a:ext cx="2560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Try first. Invest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tos"/>
              </a:rPr>
              <a:t>Concept de business • France •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Aptos"/>
              </a:rPr>
              <a:t>FIRST 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9CA3A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01 —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Le triathlon attire. Le matériel repousse.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Pour un débutant, la barrière à l'entrée est souvent plus logistique que sportive.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5074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Le parcours actuel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558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246120"/>
            <a:ext cx="4096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ptos"/>
              </a:rPr>
              <a:t>Acheter ou trouver un vélo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130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03320"/>
            <a:ext cx="4096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ptos"/>
              </a:rPr>
              <a:t>Comprendre le matériel nécessaire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702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60520"/>
            <a:ext cx="4096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ptos"/>
              </a:rPr>
              <a:t>Trouver une combinaison, un casque, des accessoires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274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617720"/>
            <a:ext cx="4096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ptos"/>
              </a:rPr>
              <a:t>S'entraîner sans savoir exactement comment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846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5074920"/>
            <a:ext cx="40965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ptos"/>
              </a:rPr>
              <a:t>Gérer seul l'inscription et la logistique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423160"/>
            <a:ext cx="5349240" cy="333756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  <a:latin typeface="Aptos"/>
              </a:rPr>
              <a:t>Le vrai frein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4805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11827"/>
                </a:solidFill>
                <a:latin typeface="Aptos"/>
              </a:rPr>
              <a:t>« Est-ce que je dois vraiment acheter 2 000 € de matériel pour essayer une fois ?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480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Le coût psychologique de l'entrée est supérieur au coût sportif réel.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02 — L'INSIGHT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Le premier triathlon est une expérience sociale.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Le déclencheur n'est pas forcément « devenir triathlète 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6537960" cy="2971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5577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« Ça vous dit qu'on fasse un triathlon ensemble ?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5303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D1D5DB"/>
                </a:solidFill>
                <a:latin typeface="Aptos"/>
              </a:rPr>
              <a:t>Le produit est déclenché par un groupe : amis, promo, alumni, collègues.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1460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ptos"/>
              </a:rPr>
              <a:t>Le déclencheur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063240"/>
            <a:ext cx="3611880" cy="56692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20954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Un ami lance l'idée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63016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886200"/>
            <a:ext cx="3611880" cy="56692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03250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Le groupe se motive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45312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709160"/>
            <a:ext cx="3611880" cy="56692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85546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ptos"/>
              </a:rPr>
              <a:t>La course devient un objectif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03 —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FIRST TRI transforme l'essai en expérience.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Le client ne loue pas simplement un vélo : il achète la possibilité de faire son premier triathlon.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651760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0603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Une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04495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Format XS, S ou découverte, choisi pour un débutant.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651760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807208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0603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Le matériel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4495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Vélo, casque et équipement essentiel fournis.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6907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389119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44567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34339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La préparation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8231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Guide, checklist, briefing et conseils simples.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6907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59" y="4389119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544567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34339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Le groupe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8231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Une expérience collective, sociale et mémorable.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897880"/>
            <a:ext cx="10652760" cy="4114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10149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Tu choisis la course. Tu viens avec tes amis. On s'occupe du reste.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04 — L'EXPÉRIENCE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Un parcours client conçu pour supprimer les frictions.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Le service doit rendre l'expérience aussi simple que possible.</a:t>
            </a:r>
          </a:p>
        </p:txBody>
      </p:sp>
      <p:sp>
        <p:nvSpPr>
          <p:cNvPr id="6" name="Oval 5"/>
          <p:cNvSpPr/>
          <p:nvPr/>
        </p:nvSpPr>
        <p:spPr>
          <a:xfrm>
            <a:off x="126187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3391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Aptos"/>
              </a:rPr>
              <a:t>Je rejoins un groupe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Aptos"/>
              </a:rPr>
              <a:t>Un groupe d'amis, une promo, des alumni ou des collègues.</a:t>
            </a:r>
          </a:p>
        </p:txBody>
      </p:sp>
      <p:sp>
        <p:nvSpPr>
          <p:cNvPr id="11" name="Oval 10"/>
          <p:cNvSpPr/>
          <p:nvPr/>
        </p:nvSpPr>
        <p:spPr>
          <a:xfrm>
            <a:off x="350215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Aptos"/>
              </a:rPr>
              <a:t>Je choisis une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Aptos"/>
              </a:rPr>
              <a:t>Un format adapté aux débutants.</a:t>
            </a:r>
          </a:p>
        </p:txBody>
      </p:sp>
      <p:sp>
        <p:nvSpPr>
          <p:cNvPr id="16" name="Oval 15"/>
          <p:cNvSpPr/>
          <p:nvPr/>
        </p:nvSpPr>
        <p:spPr>
          <a:xfrm>
            <a:off x="574243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Aptos"/>
              </a:rPr>
              <a:t>Je reçois mon équipement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Aptos"/>
              </a:rPr>
              <a:t>Vélo et matériel essentiel déjà organisés.</a:t>
            </a:r>
          </a:p>
        </p:txBody>
      </p:sp>
      <p:sp>
        <p:nvSpPr>
          <p:cNvPr id="21" name="Oval 20"/>
          <p:cNvSpPr/>
          <p:nvPr/>
        </p:nvSpPr>
        <p:spPr>
          <a:xfrm>
            <a:off x="798271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Aptos"/>
              </a:rPr>
              <a:t>Je me prépare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Aptos"/>
              </a:rPr>
              <a:t>Guide simple, briefing, conseils pratiques.</a:t>
            </a:r>
          </a:p>
        </p:txBody>
      </p:sp>
      <p:sp>
        <p:nvSpPr>
          <p:cNvPr id="26" name="Oval 25"/>
          <p:cNvSpPr/>
          <p:nvPr/>
        </p:nvSpPr>
        <p:spPr>
          <a:xfrm>
            <a:off x="10222992" y="2423160"/>
            <a:ext cx="731520" cy="7315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Aptos"/>
              </a:rPr>
              <a:t>Je participe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Aptos"/>
              </a:rPr>
              <a:t>Mon premier triathlon — avec mon groupe.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5669280"/>
            <a:ext cx="9326880" cy="50292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5797296"/>
            <a:ext cx="8869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  <a:latin typeface="Aptos"/>
              </a:rPr>
              <a:t>« Je peux essayer avant d'investir. 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05 — LE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Le canal n°1 : les communautés, pas la publicité.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Un ambassadeur peut amener tout un groupe.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Le modèle d'acquisition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4572000" cy="5943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44952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 ambassadeur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19" y="3749039"/>
            <a:ext cx="3840480" cy="5943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3913631"/>
            <a:ext cx="3840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 groupe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4617720"/>
            <a:ext cx="3108960" cy="59436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782312"/>
            <a:ext cx="31089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10–20 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3317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Premiers canaux naturels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80360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971800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HEC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7180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Alumni • BDS • promotions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520440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2044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Alumni • groupes sportifs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77639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069079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CentraleSupélec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069079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Associations • alumni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526279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617719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Mines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617719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Clubs • réseaux d'anciens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074920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166359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Entreprises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166359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Challenges d'équipes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06 — LE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Une niche ciblée, mais très accessible.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Le marché n'est pas « tous les triathlètes ». C'est le public qui veut essayer.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3337560" cy="24688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Aptos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27432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tos"/>
              </a:rPr>
              <a:t>Plusieurs centaines de milliers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ptos"/>
              </a:rPr>
              <a:t>Jeunes actifs CSP+, sportifs occasionnels, amateurs de défis.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468880"/>
            <a:ext cx="3337560" cy="2468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Aptos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46120"/>
            <a:ext cx="27432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tos"/>
              </a:rPr>
              <a:t>50k–150k personnes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519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ptos"/>
              </a:rPr>
              <a:t>Paris + grandes métropoles + communautés d'écoles + entreprises.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468880"/>
            <a:ext cx="3337560" cy="24688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7889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Aptos"/>
              </a:rPr>
              <a:t>SOM initial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246120"/>
            <a:ext cx="27432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tos"/>
              </a:rPr>
              <a:t>500–1 500 participants/an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2519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ptos"/>
              </a:rPr>
              <a:t>Ce qu'une petite structure peut réellement capter avec des groupes.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440680"/>
            <a:ext cx="9966960" cy="685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6327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Exemple : 500 participants × 300 € = 150 000 € de CA annuel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07 — LA CONCURRENCE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Il existe des acteurs sur chaque brique. Peu sur la combinaison.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La différenciation vient du produit complet.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8288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78608"/>
            <a:ext cx="160934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Acteur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423160"/>
            <a:ext cx="356616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578608"/>
            <a:ext cx="334670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Ce qu'il propose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423160"/>
            <a:ext cx="475488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578608"/>
            <a:ext cx="45354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Ce qu'il ne résout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163824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ptos"/>
              </a:rPr>
              <a:t>Loueur de vélo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017520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3163824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Un vélo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017520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163824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L'expérience du premier triathlon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75887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822191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ptos"/>
              </a:rPr>
              <a:t>Club de triathlon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675887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3822191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Une pratique régulière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75887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822191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L'essai simple et ponctuel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34256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480560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ptos"/>
              </a:rPr>
              <a:t>Organisateur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334256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2928" y="4480560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Une course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334256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4480560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Le matériel et la préparation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92624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138928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ptos"/>
              </a:rPr>
              <a:t>Magasin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992624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2928" y="5138928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Du matériel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992624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5138928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ptos"/>
              </a:rPr>
              <a:t>La motivation du groupe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806440"/>
            <a:ext cx="10515600" cy="457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925312"/>
            <a:ext cx="10149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Nous ne louons pas des vélos. Nous rendons le premier triathlon accessible.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08 — LE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Un business événementiel : panier moyen élevé, revenus non récurrents.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La densité par événement est la clé de l'économie.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931920" cy="3246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D1D5DB"/>
                </a:solidFill>
                <a:latin typeface="Aptos"/>
              </a:rPr>
              <a:t>Prix 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2926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200–400 €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  <a:latin typeface="Aptos"/>
              </a:rPr>
              <a:t>par participant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28346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Aptos"/>
              </a:rPr>
              <a:t>selon le niveau de service et l'événement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1460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Aptos"/>
              </a:rPr>
              <a:t>Exemple d'un événement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10896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i="0">
                <a:solidFill>
                  <a:srgbClr val="1F2937"/>
                </a:solidFill>
                <a:latin typeface="Aptos"/>
              </a:rPr>
              <a:t>20 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61188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× 300 € de panier moyen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4251960"/>
            <a:ext cx="5074920" cy="9144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52628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EA580C"/>
                </a:solidFill>
                <a:latin typeface="Aptos"/>
              </a:rPr>
              <a:t>≈ 6 000 € de 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440680"/>
            <a:ext cx="5074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tos"/>
              </a:rPr>
              <a:t>Le modèle devient intéressant quand plusieurs clients partagent le même événement et la même logistique.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09 — LE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1F2937"/>
                </a:solidFill>
                <a:latin typeface="Aptos"/>
              </a:rPr>
              <a:t>Le premier test ne demande pas une startup.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ptos"/>
              </a:rPr>
              <a:t>Il faut d'abord démontrer que 10 personnes sont prêtes à payer.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Aptos"/>
              </a:rPr>
              <a:t>Choisir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Aptos"/>
              </a:rPr>
              <a:t>1 course XS/S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Aptos"/>
              </a:rPr>
              <a:t>Recruter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Aptos"/>
              </a:rPr>
              <a:t>1 groupe de 10–15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Aptos"/>
              </a:rPr>
              <a:t>Packager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Aptos"/>
              </a:rPr>
              <a:t>Matériel + guide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Aptos"/>
              </a:rPr>
              <a:t>Vendre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Aptos"/>
              </a:rPr>
              <a:t>200–300 €/personne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87000" y="2468880"/>
            <a:ext cx="685800" cy="6858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Aptos"/>
              </a:rPr>
              <a:t>Mesurer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Aptos"/>
              </a:rPr>
              <a:t>Satisfaction + marge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983480"/>
            <a:ext cx="9921240" cy="868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5257800"/>
            <a:ext cx="9372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Objectif de validation : 10 personnes qui paient pour leur premier triathlon.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Aptos"/>
              </a:rPr>
              <a:t>10 — LA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Le triathlon ne devrait pas commencer par l'achat d'un vélo.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  <a:latin typeface="Aptos"/>
              </a:rPr>
              <a:t>Il devrait commencer par une expérience.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21488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286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ESSAYER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880360"/>
            <a:ext cx="731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880360"/>
            <a:ext cx="2286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VIVRE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880360"/>
            <a:ext cx="731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80360"/>
            <a:ext cx="2560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INVESTIR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EDD5"/>
                </a:solidFill>
                <a:latin typeface="Aptos"/>
              </a:rPr>
              <a:t>Try first. Invest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FIRST 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D1D5DB"/>
                </a:solidFill>
                <a:latin typeface="Aptos"/>
              </a:rPr>
              <a:t>Une nouvelle porte d'entrée vers le triathlon.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Aptos"/>
              </a:rPr>
              <a:t>FIRST TRI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9CA3A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