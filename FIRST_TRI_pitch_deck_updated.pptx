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 snapToObjects="1">
      <p:cViewPr varScale="1">
        <p:scale>
          <a:sx n="117" d="100"/>
          <a:sy n="117" d="100"/>
        </p:scale>
        <p:origin x="5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55279" y="-365760"/>
            <a:ext cx="4754880" cy="7772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2834640" cy="53949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23960" y="1051560"/>
            <a:ext cx="22860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627632"/>
            <a:ext cx="2286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EA580C"/>
                </a:solidFill>
                <a:latin typeface="Aptos"/>
              </a:rPr>
              <a:t>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8580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TON PREMIER TRIATHLON.
TOUT EST PRÊT.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61264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D1D5DB"/>
                </a:solidFill>
                <a:latin typeface="Aptos"/>
              </a:rPr>
              <a:t>Une expérience clé-en-main pour découvrir le triathlon avec ses amis — sans acheter tout le matériel avant d'avoir essayé.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2926080" cy="53035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4910328"/>
            <a:ext cx="2560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Try first. Invest later.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Aptos"/>
              </a:rPr>
              <a:t>Business concept • France •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Aptos"/>
              </a:rPr>
              <a:t>FIRST 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9CA3A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01 — 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Le triathlon attire. Le matériel repousse.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Pour un débutant, la barrière à l'entrée est souvent plus logistique que sportive.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507492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Le parcours actuel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3558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3246120"/>
            <a:ext cx="4096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Acheter ou trouver un vélo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130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3703320"/>
            <a:ext cx="4096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Comprendre le matériel nécessaire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702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4160520"/>
            <a:ext cx="4096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Trouver casque, accessoires, éventuellement combinaison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7274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4617720"/>
            <a:ext cx="4096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S'entraîner sans savoir exactement comment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8464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5568" y="5074920"/>
            <a:ext cx="4096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Gérer seul l'inscription et la logistique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423160"/>
            <a:ext cx="5349240" cy="333756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4114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EA580C"/>
                </a:solidFill>
                <a:latin typeface="Aptos"/>
              </a:rPr>
              <a:t>Le vrai frein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44805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11827"/>
                </a:solidFill>
                <a:latin typeface="Aptos"/>
              </a:rPr>
              <a:t>« Est-ce que je dois vraiment acheter 2 000 € de matériel pour essayer une fois ?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74920"/>
            <a:ext cx="44805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Le coût psychologique de l'entrée est supérieur au coût sportif réel.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02 — L'INSIGHT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Le premier triathlon est une expérience sociale.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Le déclencheur n'est pas forcément « devenir triathlète 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6537960" cy="2971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5577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« Ça vous dit qu'on fasse un triathlon ensemble ?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60520"/>
            <a:ext cx="5303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D1D5DB"/>
                </a:solidFill>
                <a:latin typeface="Aptos"/>
              </a:rPr>
              <a:t>Le produit est déclenché par un groupe : amis, promo, alumni, collègues.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514600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Aptos"/>
              </a:rPr>
              <a:t>Le déclencheur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063240"/>
            <a:ext cx="3611880" cy="566928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320954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Un ami lance l'idée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363016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886200"/>
            <a:ext cx="3611880" cy="566928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403250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Le groupe se motive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4453128"/>
            <a:ext cx="365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6B7280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709160"/>
            <a:ext cx="3611880" cy="56692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4855464"/>
            <a:ext cx="3017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La course devient un objectif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03 —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FIRST TRI transforme l'essai en expérience.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Le client n'achète pas seulement un vélo : il achète la possibilité de faire son premier triathlon.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651760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807208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06039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Une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044952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Format XS, S ou découverte, choisi pour un débutant.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7959" y="2651760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2807208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06039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Le matériel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44952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Vélo, casque et équipement essentiel fournis.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6907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5840" y="4389119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544567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343399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La préparation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82312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Guide, checklist, briefing et conseils simples.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6907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37959" y="4389119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59" y="4544567"/>
            <a:ext cx="56692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343399"/>
            <a:ext cx="3474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Le groupe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782312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Une expérience collective, sociale et mémorable.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897880"/>
            <a:ext cx="10652760" cy="4114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10149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Tu choisis la course. Tu viens avec tes amis. On s'occupe du reste.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04 — 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Le triathlon devient plus visible, plus accessible et plus social.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Le contexte est favorable à une offre d'entrée simple.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074920" cy="13258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606039"/>
            <a:ext cx="530352" cy="5303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779776"/>
            <a:ext cx="53035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32888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Le sport grandit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44368"/>
            <a:ext cx="3749039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La FFTRI a dépassé 71 000 licenciés en 2026, un record historique.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31720"/>
            <a:ext cx="5074920" cy="13258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37959" y="2606039"/>
            <a:ext cx="530352" cy="5303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2779776"/>
            <a:ext cx="53035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532888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Les débutants entrent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944368"/>
            <a:ext cx="3749039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Les inscriptions de non-licenciés aux manifestations FFTRI avaient progressé de 35 % en 2023.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5074920" cy="13258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05840" y="4251959"/>
            <a:ext cx="530352" cy="5303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425696"/>
            <a:ext cx="53035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178807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Le sport devient social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590288"/>
            <a:ext cx="3749039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World Triathlon a fortement progressé sur les plateformes vidéo et sociales en 2026.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977639"/>
            <a:ext cx="5074920" cy="13258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37959" y="4251959"/>
            <a:ext cx="530352" cy="53035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59" y="4425696"/>
            <a:ext cx="53035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4178807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Aptos"/>
              </a:rPr>
              <a:t>Les formats challengers explosent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4590288"/>
            <a:ext cx="3749039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HYROX illustre l'appétit pour des compétitions accessibles, communautaires et très partageables.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15000"/>
            <a:ext cx="1051560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852160"/>
            <a:ext cx="101498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FIRST TRI arrive au moment où l'envie d'expérience augmente, mais où l'accès matériel reste compliqué.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05 — L'EXPÉRIENCE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Un parcours client conçu pour supprimer les frictions.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Le service doit rendre l'expérience aussi simple que possible.</a:t>
            </a:r>
          </a:p>
        </p:txBody>
      </p:sp>
      <p:sp>
        <p:nvSpPr>
          <p:cNvPr id="6" name="Oval 5"/>
          <p:cNvSpPr/>
          <p:nvPr/>
        </p:nvSpPr>
        <p:spPr>
          <a:xfrm>
            <a:off x="1261872" y="2423160"/>
            <a:ext cx="731520" cy="7315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993391" y="2743200"/>
            <a:ext cx="150876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Je rejoins un groupe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ptos"/>
              </a:rPr>
              <a:t>Amis, promo, alumni ou collègues.</a:t>
            </a:r>
          </a:p>
        </p:txBody>
      </p:sp>
      <p:sp>
        <p:nvSpPr>
          <p:cNvPr id="11" name="Oval 10"/>
          <p:cNvSpPr/>
          <p:nvPr/>
        </p:nvSpPr>
        <p:spPr>
          <a:xfrm>
            <a:off x="3502152" y="2423160"/>
            <a:ext cx="731520" cy="7315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215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2743200"/>
            <a:ext cx="150876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Je choisis une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ptos"/>
              </a:rPr>
              <a:t>Un format adapté aux débutants.</a:t>
            </a:r>
          </a:p>
        </p:txBody>
      </p:sp>
      <p:sp>
        <p:nvSpPr>
          <p:cNvPr id="16" name="Oval 15"/>
          <p:cNvSpPr/>
          <p:nvPr/>
        </p:nvSpPr>
        <p:spPr>
          <a:xfrm>
            <a:off x="5742432" y="2423160"/>
            <a:ext cx="731520" cy="7315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4243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2743200"/>
            <a:ext cx="150876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Je reçois mon équipement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ptos"/>
              </a:rPr>
              <a:t>Vélo et matériel essentiel déjà organisés.</a:t>
            </a:r>
          </a:p>
        </p:txBody>
      </p:sp>
      <p:sp>
        <p:nvSpPr>
          <p:cNvPr id="21" name="Oval 20"/>
          <p:cNvSpPr/>
          <p:nvPr/>
        </p:nvSpPr>
        <p:spPr>
          <a:xfrm>
            <a:off x="7982712" y="2423160"/>
            <a:ext cx="731520" cy="7315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8271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14232" y="2743200"/>
            <a:ext cx="1508760" cy="457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Je me prépare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ptos"/>
              </a:rPr>
              <a:t>Guide simple, briefing, conseils pratiques.</a:t>
            </a:r>
          </a:p>
        </p:txBody>
      </p:sp>
      <p:sp>
        <p:nvSpPr>
          <p:cNvPr id="26" name="Oval 25"/>
          <p:cNvSpPr/>
          <p:nvPr/>
        </p:nvSpPr>
        <p:spPr>
          <a:xfrm>
            <a:off x="10222992" y="2423160"/>
            <a:ext cx="731520" cy="7315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22992" y="2642616"/>
            <a:ext cx="731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352044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Je participe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160520"/>
            <a:ext cx="18288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ptos"/>
              </a:rPr>
              <a:t>Mon premier triathlon — avec mon groupe.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5669280"/>
            <a:ext cx="9326880" cy="50292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0" y="5797296"/>
            <a:ext cx="8869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Aptos"/>
              </a:rPr>
              <a:t>« Je peux essayer avant d'investir. 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06 —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Le canal n°1 : les communautés, pas la publicité.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Un ambassadeur peut amener tout un groupe.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Le modèle d'acquisition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4572000" cy="59436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044952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 ambassadeur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19" y="3749039"/>
            <a:ext cx="3840480" cy="5943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19" y="3913631"/>
            <a:ext cx="3840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 groupe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4617720"/>
            <a:ext cx="3108960" cy="59436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4782312"/>
            <a:ext cx="31089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10–20 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33172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Premiers canaux naturels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80360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971800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HEC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71800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Alumni • BDS • promotions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29000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520440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520440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Alumni • groupes sportifs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77639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069079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CentraleSupélec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069079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Associations • alumni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526279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4617719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Mines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617719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Clubs • réseaux d'anciens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5074920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5166359"/>
            <a:ext cx="1325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Entreprises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166359"/>
            <a:ext cx="31089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Challenges d'équipes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07 — LE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Une niche ciblée, mais très accessible.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Le marché n'est pas « tous les triathlètes ». C'est le public qui veut essayer.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3337560" cy="246888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Aptos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27432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Plusieurs centaines de milliers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Jeunes actifs CSP+, sportifs occasionnels, amateurs de défis.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468880"/>
            <a:ext cx="3337560" cy="24688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7889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Aptos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46120"/>
            <a:ext cx="27432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50k–150k personnes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5196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Paris + grandes métropoles + communautés d'écoles + entreprises.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468880"/>
            <a:ext cx="3337560" cy="246888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27889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66534"/>
                </a:solidFill>
                <a:latin typeface="Aptos"/>
              </a:rPr>
              <a:t>SOM initial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246120"/>
            <a:ext cx="27432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Aptos"/>
              </a:rPr>
              <a:t>500–1 500 participants/an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251960"/>
            <a:ext cx="2743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Ce qu'une petite structure peut réellement capter avec des groupes.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5440680"/>
            <a:ext cx="9966960" cy="6858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5632704"/>
            <a:ext cx="9601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Exemple : 500 participants × 300 € = 150 000 € de CA annuel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08 — LA CONCURRENCE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Il existe des acteurs sur chaque brique. Peu sur la combinaison.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La différenciation vient du produit complet.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82880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578608"/>
            <a:ext cx="160934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Acteur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423160"/>
            <a:ext cx="356616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52928" y="2578608"/>
            <a:ext cx="334670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Ce qu'il propose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423160"/>
            <a:ext cx="4754880" cy="5029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01968" y="2578608"/>
            <a:ext cx="45354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Ce qu'il ne résout 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163824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ptos"/>
              </a:rPr>
              <a:t>Loueur de vélo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017520"/>
            <a:ext cx="3566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52928" y="3163824"/>
            <a:ext cx="3346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Un vélo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017520"/>
            <a:ext cx="4754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3163824"/>
            <a:ext cx="45354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L'expérience du premier triathlon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75887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822191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ptos"/>
              </a:rPr>
              <a:t>Club de triathlon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675887"/>
            <a:ext cx="3566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52928" y="3822191"/>
            <a:ext cx="3346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Une pratique régulière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675887"/>
            <a:ext cx="4754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3822191"/>
            <a:ext cx="45354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L'essai simple et ponctuel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34256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480560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ptos"/>
              </a:rPr>
              <a:t>Organisateur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334256"/>
            <a:ext cx="3566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52928" y="4480560"/>
            <a:ext cx="3346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Une course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334256"/>
            <a:ext cx="4754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01968" y="4480560"/>
            <a:ext cx="45354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Le matériel et la préparation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92624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5138928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ptos"/>
              </a:rPr>
              <a:t>Magasin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992624"/>
            <a:ext cx="3566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52928" y="5138928"/>
            <a:ext cx="3346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Du matériel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992624"/>
            <a:ext cx="4754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01968" y="5138928"/>
            <a:ext cx="45354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ptos"/>
              </a:rPr>
              <a:t>La motivation du groupe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806440"/>
            <a:ext cx="10515600" cy="457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925312"/>
            <a:ext cx="10149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Nous ne louons pas des vélos. Nous rendons le premier triathlon accessible.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09 —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La bonne stratégie : vendre le groupe avant d'acheter la flotte.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La logistique doit rester simple, standardisée et réutilisable.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50749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Avant l'événement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26440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3154680"/>
            <a:ext cx="41879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J-30 : taille, niveau, pédales, contraintes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703320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3593592"/>
            <a:ext cx="41879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J-7 : attribution nominative + réglage initial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142232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4032504"/>
            <a:ext cx="41879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J-1 : transport et stockage sécurisé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581144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1288" y="4471416"/>
            <a:ext cx="41879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Jour J : remise, ajustements, assistance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5020056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8" y="4910328"/>
            <a:ext cx="41879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J+1 : retour, inspection, nettoyage, 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331720"/>
            <a:ext cx="5394960" cy="32004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65176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Flotte recommandée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Aptos"/>
              </a:rP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4612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5–8 vélos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273551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Aptos"/>
              </a:rPr>
              <a:t>Tester le modèle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8620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Aptos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88620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12–15 vélos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913632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Aptos"/>
              </a:rPr>
              <a:t>Après 2–3 événements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2628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Aptos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526280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20–30 vélos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4553712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D1D5DB"/>
                </a:solidFill>
                <a:latin typeface="Aptos"/>
              </a:rPr>
              <a:t>Demande démontrée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10 — INVESTISSEMENT INITIAL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Le MVP peut être lancé avec environ 15–20 k€.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L'objectif est de tester la demande avant d'immobiliser une grosse flotte.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5–8 vélos fiables d'occasion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3317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4–8 k€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07208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Casques, pédales, accessoires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80720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1–1,5 k€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82696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Transport / racks / housses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282696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1–2 k€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58183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Maintenance / stock pièces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758183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0,5–1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33672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Assurance / juridique / création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233672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1,5–3 k€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09160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Site / branding / réservation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70916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0,5–1,5 k€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84648"/>
            <a:ext cx="5303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Trésorerie de sécurité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5184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2–4 k€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423160"/>
            <a:ext cx="3840480" cy="233172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35240" y="2743200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EA580C"/>
                </a:solidFill>
                <a:latin typeface="Aptos"/>
              </a:rPr>
              <a:t>CAPEX MVP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24612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Aptos"/>
              </a:rPr>
              <a:t>15–20 k€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069080"/>
            <a:ext cx="3108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tos"/>
              </a:rPr>
              <a:t>Puis réinvestir les premiers événements.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5074920"/>
            <a:ext cx="3840480" cy="6400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43800" y="5239512"/>
            <a:ext cx="3383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Ne pas acheter 20 vélos avant d'avoir vendu le premier groupe.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11 —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Le modèle devient rentable grâce à la densité par événement.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La vraie unité économique est : un groupe × un événement.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383280" cy="32461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20 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EA580C"/>
                </a:solidFill>
                <a:latin typeface="Aptos"/>
              </a:rPr>
              <a:t>× 300 €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77639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≈ 6 000 € de 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7200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D1D5DB"/>
                </a:solidFill>
                <a:latin typeface="Aptos"/>
              </a:rPr>
              <a:t>par événement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42316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Coûts variables indicatifs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26080"/>
            <a:ext cx="3291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400–800 €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383280"/>
            <a:ext cx="3291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Maintenance / consommables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200–400 €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840480"/>
            <a:ext cx="3291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Personnel / assistance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84048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500–1 000 €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297680"/>
            <a:ext cx="3291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Assurance / frais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29768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200–400 €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754880"/>
            <a:ext cx="3291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Acquisition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75488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0–500 €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5303520"/>
            <a:ext cx="5486400" cy="502920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5449824"/>
            <a:ext cx="51206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66534"/>
                </a:solidFill>
                <a:latin typeface="Aptos"/>
              </a:rPr>
              <a:t>Marge de contribution cible : ~50–70 %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12 — RETOUR SUR INVESTISSEMENT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Un MVP à 15–20 k€ peut être amorti en quelques événements.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Le risque principal est le remplissage, pas le coût du matériel.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4846320" cy="3200400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EA580C"/>
                </a:solidFill>
                <a:latin typeface="Aptos"/>
              </a:rPr>
              <a:t>Investissement initial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4114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Aptos"/>
              </a:rPr>
              <a:t>15–20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60520"/>
            <a:ext cx="4023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≈ 4–7 événements pour atteindre le point mort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1460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Scénario de saison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063240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3227832"/>
            <a:ext cx="12801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5 événements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227832"/>
            <a:ext cx="1371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100 participants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27832"/>
            <a:ext cx="1371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≈ 30 k€ de 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40480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005072"/>
            <a:ext cx="12801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10 événements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005072"/>
            <a:ext cx="1371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150 participants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005072"/>
            <a:ext cx="1371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≈ 45 k€ de 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617720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782312"/>
            <a:ext cx="12801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20 événements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782312"/>
            <a:ext cx="1371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400 participants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782312"/>
            <a:ext cx="1371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A580C"/>
                </a:solidFill>
                <a:latin typeface="Aptos"/>
              </a:rPr>
              <a:t>≈ 120 k€ de 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577840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Hypothèses illustratives — à valider sur le premier événement.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13 — LE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Le premier test ne demande pas une startup.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Il faut d'abord démontrer que 10 personnes sont prêtes à payer.</a:t>
            </a:r>
          </a:p>
        </p:txBody>
      </p:sp>
      <p:sp>
        <p:nvSpPr>
          <p:cNvPr id="6" name="Oval 5"/>
          <p:cNvSpPr/>
          <p:nvPr/>
        </p:nvSpPr>
        <p:spPr>
          <a:xfrm>
            <a:off x="1325880" y="2468880"/>
            <a:ext cx="685800" cy="6858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Choisir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tos"/>
              </a:rPr>
              <a:t>1 course XS/S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788920"/>
            <a:ext cx="1143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66160" y="2468880"/>
            <a:ext cx="685800" cy="6858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Recruter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tos"/>
              </a:rPr>
              <a:t>1 groupe de 10–15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788920"/>
            <a:ext cx="1143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06440" y="2468880"/>
            <a:ext cx="685800" cy="6858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0644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Packager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tos"/>
              </a:rPr>
              <a:t>Matériel + guide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788920"/>
            <a:ext cx="1143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20" y="2468880"/>
            <a:ext cx="685800" cy="6858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Vendre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tos"/>
              </a:rPr>
              <a:t>200–300 €/personne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2788920"/>
            <a:ext cx="1143000" cy="3657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287000" y="2468880"/>
            <a:ext cx="685800" cy="6858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87000" y="2679192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42900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Mesurer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886200"/>
            <a:ext cx="1828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Aptos"/>
              </a:rPr>
              <a:t>Satisfaction + marge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4983480"/>
            <a:ext cx="9921240" cy="868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17320" y="5257800"/>
            <a:ext cx="9372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Objectif de validation : 10 personnes qui paient pour leur premier triathlon.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Aptos"/>
              </a:rPr>
              <a:t>FIRST TRI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B72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Aptos"/>
              </a:rPr>
              <a:t>14 — LA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Le triathlon ne devrait pas commencer par l'achat d'un vélo.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Aptos"/>
              </a:rPr>
              <a:t>Il devrait commencer par une expérience.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21488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560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ESSAYER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80360"/>
            <a:ext cx="2560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VIVRE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880360"/>
            <a:ext cx="25603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INVESTIR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80360"/>
            <a:ext cx="731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880360"/>
            <a:ext cx="731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EDD5"/>
                </a:solidFill>
                <a:latin typeface="Aptos"/>
              </a:rPr>
              <a:t>Try first. Invest later.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3200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FIRST TRI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D1D5DB"/>
                </a:solidFill>
                <a:latin typeface="Aptos"/>
              </a:rPr>
              <a:t>Une nouvelle porte d'entrée vers le triathlon.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Aptos"/>
              </a:rPr>
              <a:t>FIRST TRI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9CA3A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1237</Words>
  <Application>Microsoft Macintosh PowerPoint</Application>
  <PresentationFormat>Grand écran</PresentationFormat>
  <Paragraphs>266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Valentin PRUVOST</cp:lastModifiedBy>
  <cp:revision>1</cp:revision>
  <dcterms:created xsi:type="dcterms:W3CDTF">2013-01-27T09:14:16Z</dcterms:created>
  <dcterms:modified xsi:type="dcterms:W3CDTF">2026-07-21T10:51:03Z</dcterms:modified>
  <cp:category/>
</cp:coreProperties>
</file>